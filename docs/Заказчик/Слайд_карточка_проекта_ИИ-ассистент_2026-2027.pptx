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docs/project-context/requirements/CTX-20260917-project-card-ai-assistant.md; docs/project-context/correspondence/CTX-20260924-effect-2026-2027-clarification.md; docs/project-context/decisions/DEC-20260917-effect-accounting-method.md. Значения 77 млн руб. и 38,5 млн руб. на 2027 год переданы как уточнение и требуют закрепления в воспроизводимой модели. Рабочая интерпретация второго сценария: решение не тиражируется за пределы А ГРУПП.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A85FA575-C9E1-4D64-BD56-9910EFFB9622}"/>
              </a:ext>
            </a:extLst>
          </p:cNvPr>
          <p:cNvSpPr>
            <a:spLocks noGrp="1"/>
          </p:cNvSpPr>
          <p:nvPr/>
        </p:nvSpPr>
        <p:spPr>
          <a:xfrm>
            <a:off x="304800" y="133350"/>
            <a:ext cx="9144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203E70"/>
                </a:solidFill>
                <a:latin typeface="Arial"/>
                <a:ea typeface="Arial"/>
                <a:cs typeface="Arial"/>
              </a:rPr>
              <a:t>ИИ-</a:t>
            </a:r>
            <a:r>
              <a:rPr sz="2025" b="1" i="0" dirty="0" err="1">
                <a:solidFill>
                  <a:srgbClr val="203E70"/>
                </a:solidFill>
                <a:latin typeface="Arial"/>
                <a:ea typeface="Arial"/>
                <a:cs typeface="Arial"/>
              </a:rPr>
              <a:t>помощник</a:t>
            </a:r>
            <a:r>
              <a:rPr sz="2025" b="1" i="0" dirty="0">
                <a:solidFill>
                  <a:srgbClr val="203E7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203E70"/>
                </a:solidFill>
                <a:latin typeface="Arial"/>
                <a:ea typeface="Arial"/>
                <a:cs typeface="Arial"/>
              </a:rPr>
              <a:t>менеджера</a:t>
            </a:r>
            <a:r>
              <a:rPr sz="2025" b="1" i="0" dirty="0">
                <a:solidFill>
                  <a:srgbClr val="203E7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203E70"/>
                </a:solidFill>
                <a:latin typeface="Arial"/>
                <a:ea typeface="Arial"/>
                <a:cs typeface="Arial"/>
              </a:rPr>
              <a:t>по</a:t>
            </a:r>
            <a:r>
              <a:rPr sz="2025" b="1" i="0" dirty="0">
                <a:solidFill>
                  <a:srgbClr val="203E7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203E70"/>
                </a:solidFill>
                <a:latin typeface="Arial"/>
                <a:ea typeface="Arial"/>
                <a:cs typeface="Arial"/>
              </a:rPr>
              <a:t>заявкам</a:t>
            </a:r>
            <a:r>
              <a:rPr sz="2025" b="1" i="0" dirty="0">
                <a:solidFill>
                  <a:srgbClr val="203E7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1" i="0" dirty="0" err="1">
                <a:solidFill>
                  <a:srgbClr val="203E70"/>
                </a:solidFill>
                <a:latin typeface="Arial"/>
                <a:ea typeface="Arial"/>
                <a:cs typeface="Arial"/>
              </a:rPr>
              <a:t>клиентов</a:t>
            </a:r>
            <a:endParaRPr sz="2025" b="1" i="0" dirty="0">
              <a:solidFill>
                <a:srgbClr val="203E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1E95F1-C605-4240-A2B8-5EE2AD37DDFF}"/>
              </a:ext>
            </a:extLst>
          </p:cNvPr>
          <p:cNvSpPr>
            <a:spLocks noGrp="1"/>
          </p:cNvSpPr>
          <p:nvPr/>
        </p:nvSpPr>
        <p:spPr>
          <a:xfrm>
            <a:off x="304800" y="466725"/>
            <a:ext cx="3905250" cy="28575"/>
          </a:xfrm>
          <a:prstGeom prst="rect">
            <a:avLst/>
          </a:prstGeom>
          <a:solidFill>
            <a:srgbClr val="D54A45"/>
          </a:solidFill>
          <a:ln w="9525">
            <a:solidFill>
              <a:srgbClr val="D54A45"/>
            </a:solidFill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1946183-1161-426E-916C-4C312AE67441}"/>
              </a:ext>
            </a:extLst>
          </p:cNvPr>
          <p:cNvSpPr>
            <a:spLocks noGrp="1"/>
          </p:cNvSpPr>
          <p:nvPr/>
        </p:nvSpPr>
        <p:spPr>
          <a:xfrm>
            <a:off x="304800" y="571500"/>
            <a:ext cx="8077200" cy="447675"/>
          </a:xfrm>
          <a:prstGeom prst="roundRect">
            <a:avLst>
              <a:gd name="adj" fmla="val 17021"/>
            </a:avLst>
          </a:prstGeom>
          <a:solidFill>
            <a:srgbClr val="12365F"/>
          </a:solidFill>
          <a:ln w="9525">
            <a:solidFill>
              <a:srgbClr val="12365F"/>
            </a:solidFill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F2E332-27F2-48A9-8BCB-59A6AD3CF902}"/>
              </a:ext>
            </a:extLst>
          </p:cNvPr>
          <p:cNvSpPr>
            <a:spLocks noGrp="1"/>
          </p:cNvSpPr>
          <p:nvPr/>
        </p:nvSpPr>
        <p:spPr>
          <a:xfrm>
            <a:off x="438150" y="647700"/>
            <a:ext cx="628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F23649-481C-4D34-9410-66AD6B07A5E5}"/>
              </a:ext>
            </a:extLst>
          </p:cNvPr>
          <p:cNvSpPr>
            <a:spLocks noGrp="1"/>
          </p:cNvSpPr>
          <p:nvPr/>
        </p:nvSpPr>
        <p:spPr>
          <a:xfrm>
            <a:off x="1066800" y="628650"/>
            <a:ext cx="7181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88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увеличить тоннаж продаж за счёт подсказок по товарам, которые клиент обычно покупает, но не включил в текущий заказ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135FED-9541-4DB8-8A62-34D222688B33}"/>
              </a:ext>
            </a:extLst>
          </p:cNvPr>
          <p:cNvSpPr>
            <a:spLocks noGrp="1"/>
          </p:cNvSpPr>
          <p:nvPr/>
        </p:nvSpPr>
        <p:spPr>
          <a:xfrm>
            <a:off x="304800" y="1114425"/>
            <a:ext cx="3905250" cy="895350"/>
          </a:xfrm>
          <a:prstGeom prst="rect">
            <a:avLst/>
          </a:prstGeom>
          <a:solidFill>
            <a:srgbClr val="F1F4F8"/>
          </a:solidFill>
          <a:ln w="9525">
            <a:solidFill>
              <a:srgbClr val="CBD3DF"/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EFD919B-17DD-4351-82C8-D19E1A89ABA1}"/>
              </a:ext>
            </a:extLst>
          </p:cNvPr>
          <p:cNvSpPr>
            <a:spLocks noGrp="1"/>
          </p:cNvSpPr>
          <p:nvPr/>
        </p:nvSpPr>
        <p:spPr>
          <a:xfrm>
            <a:off x="419100" y="1190625"/>
            <a:ext cx="36766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ПРОБЛЕМАТИКА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2DBFEF2-EAFC-478E-B57C-DD7CF444FA64}"/>
              </a:ext>
            </a:extLst>
          </p:cNvPr>
          <p:cNvSpPr>
            <a:spLocks noGrp="1"/>
          </p:cNvSpPr>
          <p:nvPr/>
        </p:nvSpPr>
        <p:spPr>
          <a:xfrm>
            <a:off x="419100" y="1390650"/>
            <a:ext cx="36766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15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Менеджер видит только позиции из заявки клиента. История покупок и спрос похожих клиентов не используются. Часть потребности остаётся у конкурентов, а вклад подсказки в продажи нельзя доказать.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D677E5-F9EA-4928-864E-DB3291ED26D0}"/>
              </a:ext>
            </a:extLst>
          </p:cNvPr>
          <p:cNvSpPr>
            <a:spLocks noGrp="1"/>
          </p:cNvSpPr>
          <p:nvPr/>
        </p:nvSpPr>
        <p:spPr>
          <a:xfrm>
            <a:off x="4324350" y="1114425"/>
            <a:ext cx="4057650" cy="895350"/>
          </a:xfrm>
          <a:prstGeom prst="rect">
            <a:avLst/>
          </a:prstGeom>
          <a:solidFill>
            <a:srgbClr val="F1F4F8"/>
          </a:solidFill>
          <a:ln w="9525">
            <a:solidFill>
              <a:srgbClr val="CBD3DF"/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5F1C4B-70A6-48FA-8998-441267DCE78A}"/>
              </a:ext>
            </a:extLst>
          </p:cNvPr>
          <p:cNvSpPr>
            <a:spLocks noGrp="1"/>
          </p:cNvSpPr>
          <p:nvPr/>
        </p:nvSpPr>
        <p:spPr>
          <a:xfrm>
            <a:off x="4438650" y="1190625"/>
            <a:ext cx="38290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ОПИСАНИЕ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18771E9-CFE9-4C29-A944-8D4E3022AF38}"/>
              </a:ext>
            </a:extLst>
          </p:cNvPr>
          <p:cNvSpPr>
            <a:spLocks noGrp="1"/>
          </p:cNvSpPr>
          <p:nvPr/>
        </p:nvSpPr>
        <p:spPr>
          <a:xfrm>
            <a:off x="4419600" y="1347788"/>
            <a:ext cx="38290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15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При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заказа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помощник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сравнивает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его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с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историей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клиента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-RU" sz="915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ниши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. В 1С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выводятся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два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списка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ТОП - 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5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позиций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товаров (самого клиента и ниши) 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с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учётом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наличия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и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товара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в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пути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.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Рекомендация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и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изменения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заказа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сохраняются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для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расчёта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 </a:t>
            </a:r>
            <a:r>
              <a:rPr sz="915" b="0" i="0" dirty="0" err="1">
                <a:solidFill>
                  <a:srgbClr val="263747"/>
                </a:solidFill>
                <a:latin typeface="Arial"/>
                <a:ea typeface="Arial"/>
                <a:cs typeface="Arial"/>
              </a:rPr>
              <a:t>эффекта</a:t>
            </a:r>
            <a:r>
              <a:rPr sz="915" b="0" i="0" dirty="0">
                <a:solidFill>
                  <a:srgbClr val="26374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C2B24D8-244D-4F46-BAAE-5AEAF19BCB02}"/>
              </a:ext>
            </a:extLst>
          </p:cNvPr>
          <p:cNvSpPr>
            <a:spLocks noGrp="1"/>
          </p:cNvSpPr>
          <p:nvPr/>
        </p:nvSpPr>
        <p:spPr>
          <a:xfrm>
            <a:off x="304800" y="2105025"/>
            <a:ext cx="8077200" cy="323850"/>
          </a:xfrm>
          <a:prstGeom prst="rect">
            <a:avLst/>
          </a:prstGeom>
          <a:solidFill>
            <a:srgbClr val="12365F"/>
          </a:solidFill>
          <a:ln w="9525">
            <a:solidFill>
              <a:srgbClr val="12365F"/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E8372F-FC8C-4A88-BDAA-14E9BAD8343F}"/>
              </a:ext>
            </a:extLst>
          </p:cNvPr>
          <p:cNvSpPr>
            <a:spLocks noGrp="1"/>
          </p:cNvSpPr>
          <p:nvPr/>
        </p:nvSpPr>
        <p:spPr>
          <a:xfrm>
            <a:off x="419100" y="2143125"/>
            <a:ext cx="78486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ЭКОНОМИЧЕСКИЙ ЭФФЕКТ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A8BFD95-24FD-4B05-A475-2A7ABA9945BB}"/>
              </a:ext>
            </a:extLst>
          </p:cNvPr>
          <p:cNvSpPr>
            <a:spLocks noGrp="1"/>
          </p:cNvSpPr>
          <p:nvPr/>
        </p:nvSpPr>
        <p:spPr>
          <a:xfrm>
            <a:off x="304800" y="2524125"/>
            <a:ext cx="3905250" cy="2457450"/>
          </a:xfrm>
          <a:prstGeom prst="rect">
            <a:avLst/>
          </a:prstGeom>
          <a:solidFill>
            <a:srgbClr val="EAF0F8"/>
          </a:solidFill>
          <a:ln w="9525">
            <a:solidFill>
              <a:srgbClr val="CBD3DF"/>
            </a:solidFill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A48A640-C0E2-4056-B8AD-0C0254C9EC32}"/>
              </a:ext>
            </a:extLst>
          </p:cNvPr>
          <p:cNvSpPr>
            <a:spLocks noGrp="1"/>
          </p:cNvSpPr>
          <p:nvPr/>
        </p:nvSpPr>
        <p:spPr>
          <a:xfrm>
            <a:off x="438150" y="2628900"/>
            <a:ext cx="36385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2026 год — пилот в А ГРУПП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279B77F-D0D9-4BE6-8DFE-F471F17C9DEC}"/>
              </a:ext>
            </a:extLst>
          </p:cNvPr>
          <p:cNvSpPr>
            <a:spLocks noGrp="1"/>
          </p:cNvSpPr>
          <p:nvPr/>
        </p:nvSpPr>
        <p:spPr>
          <a:xfrm>
            <a:off x="438150" y="2952750"/>
            <a:ext cx="1524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База расчёта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66D0E58-CEE1-4482-AF54-FBDA0AC5D684}"/>
              </a:ext>
            </a:extLst>
          </p:cNvPr>
          <p:cNvSpPr>
            <a:spLocks noGrp="1"/>
          </p:cNvSpPr>
          <p:nvPr/>
        </p:nvSpPr>
        <p:spPr>
          <a:xfrm>
            <a:off x="438150" y="3171825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77 млн ₽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851047D-B008-4C4F-81C5-BAE7F8DE4078}"/>
              </a:ext>
            </a:extLst>
          </p:cNvPr>
          <p:cNvSpPr>
            <a:spLocks noGrp="1"/>
          </p:cNvSpPr>
          <p:nvPr/>
        </p:nvSpPr>
        <p:spPr>
          <a:xfrm>
            <a:off x="1885950" y="3190875"/>
            <a:ext cx="21145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63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годовой план по всем торговым компаниям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0FDB599-5B4C-4B8A-9406-22AD1299A0EB}"/>
              </a:ext>
            </a:extLst>
          </p:cNvPr>
          <p:cNvSpPr>
            <a:spLocks noGrp="1"/>
          </p:cNvSpPr>
          <p:nvPr/>
        </p:nvSpPr>
        <p:spPr>
          <a:xfrm>
            <a:off x="438150" y="3638550"/>
            <a:ext cx="1428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Доля А ГРУПП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FF331E4-F449-4A3E-BC75-BFA63D74508B}"/>
              </a:ext>
            </a:extLst>
          </p:cNvPr>
          <p:cNvSpPr>
            <a:spLocks noGrp="1"/>
          </p:cNvSpPr>
          <p:nvPr/>
        </p:nvSpPr>
        <p:spPr>
          <a:xfrm>
            <a:off x="438150" y="3838575"/>
            <a:ext cx="838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1768431-2C07-4B38-89A7-3C1A6769D73E}"/>
              </a:ext>
            </a:extLst>
          </p:cNvPr>
          <p:cNvSpPr>
            <a:spLocks noGrp="1"/>
          </p:cNvSpPr>
          <p:nvPr/>
        </p:nvSpPr>
        <p:spPr>
          <a:xfrm>
            <a:off x="1676400" y="3638550"/>
            <a:ext cx="9525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Период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65A208-8446-45B6-92BD-6B191C234BCF}"/>
              </a:ext>
            </a:extLst>
          </p:cNvPr>
          <p:cNvSpPr>
            <a:spLocks noGrp="1"/>
          </p:cNvSpPr>
          <p:nvPr/>
        </p:nvSpPr>
        <p:spPr>
          <a:xfrm>
            <a:off x="1676400" y="3838575"/>
            <a:ext cx="8382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FA9C01-BB6B-49FF-AE1B-37202988A02C}"/>
              </a:ext>
            </a:extLst>
          </p:cNvPr>
          <p:cNvSpPr>
            <a:spLocks noGrp="1"/>
          </p:cNvSpPr>
          <p:nvPr/>
        </p:nvSpPr>
        <p:spPr>
          <a:xfrm>
            <a:off x="438150" y="4276725"/>
            <a:ext cx="3638550" cy="19050"/>
          </a:xfrm>
          <a:prstGeom prst="rect">
            <a:avLst/>
          </a:prstGeom>
          <a:solidFill>
            <a:srgbClr val="CBD3DF"/>
          </a:solidFill>
          <a:ln w="9525">
            <a:solidFill>
              <a:srgbClr val="CBD3DF"/>
            </a:solidFill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C116031-C5FF-4E77-8387-A1B71DD386B1}"/>
              </a:ext>
            </a:extLst>
          </p:cNvPr>
          <p:cNvSpPr>
            <a:spLocks noGrp="1"/>
          </p:cNvSpPr>
          <p:nvPr/>
        </p:nvSpPr>
        <p:spPr>
          <a:xfrm>
            <a:off x="438150" y="4400550"/>
            <a:ext cx="23431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77 млн × 10% × 3/12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226CD28-B734-45BE-9CE9-734A3723FCE8}"/>
              </a:ext>
            </a:extLst>
          </p:cNvPr>
          <p:cNvSpPr>
            <a:spLocks noGrp="1"/>
          </p:cNvSpPr>
          <p:nvPr/>
        </p:nvSpPr>
        <p:spPr>
          <a:xfrm>
            <a:off x="2609850" y="4343400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650" b="1" i="0">
                <a:solidFill>
                  <a:srgbClr val="D54A4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D54A45"/>
                </a:solidFill>
                <a:latin typeface="Arial"/>
                <a:ea typeface="Arial"/>
                <a:cs typeface="Arial"/>
              </a:rPr>
              <a:t>= 1,9 млн ₽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0931457-8D73-4D68-B3E7-0A76900F4C9E}"/>
              </a:ext>
            </a:extLst>
          </p:cNvPr>
          <p:cNvSpPr>
            <a:spLocks noGrp="1"/>
          </p:cNvSpPr>
          <p:nvPr/>
        </p:nvSpPr>
        <p:spPr>
          <a:xfrm>
            <a:off x="438150" y="4714875"/>
            <a:ext cx="36385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63" b="0" i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63" b="0" i="1">
                <a:solidFill>
                  <a:srgbClr val="66717C"/>
                </a:solidFill>
                <a:latin typeface="Arial"/>
                <a:ea typeface="Arial"/>
                <a:cs typeface="Arial"/>
              </a:rPr>
              <a:t>Запуск: октябрь 2026 года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9C3E470-99F3-4041-8F53-31D7A90D8B2A}"/>
              </a:ext>
            </a:extLst>
          </p:cNvPr>
          <p:cNvSpPr>
            <a:spLocks noGrp="1"/>
          </p:cNvSpPr>
          <p:nvPr/>
        </p:nvSpPr>
        <p:spPr>
          <a:xfrm>
            <a:off x="4324350" y="2524125"/>
            <a:ext cx="4057650" cy="2457450"/>
          </a:xfrm>
          <a:prstGeom prst="rect">
            <a:avLst/>
          </a:prstGeom>
          <a:solidFill>
            <a:srgbClr val="EAF0F8"/>
          </a:solidFill>
          <a:ln w="9525">
            <a:solidFill>
              <a:srgbClr val="CBD3DF"/>
            </a:solidFill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6ABD2A6-C4A5-4619-B71C-210310474FC2}"/>
              </a:ext>
            </a:extLst>
          </p:cNvPr>
          <p:cNvSpPr>
            <a:spLocks noGrp="1"/>
          </p:cNvSpPr>
          <p:nvPr/>
        </p:nvSpPr>
        <p:spPr>
          <a:xfrm>
            <a:off x="4457700" y="2628900"/>
            <a:ext cx="37909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2027 год — два сценария масштаба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A0FE26E-98DE-4067-8BF2-59F83A9DE440}"/>
              </a:ext>
            </a:extLst>
          </p:cNvPr>
          <p:cNvSpPr>
            <a:spLocks noGrp="1"/>
          </p:cNvSpPr>
          <p:nvPr/>
        </p:nvSpPr>
        <p:spPr>
          <a:xfrm>
            <a:off x="4457700" y="2952750"/>
            <a:ext cx="3790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3DF"/>
            </a:solidFill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9905A80-AE9B-49A4-8A16-C353DB5F7C4A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3524250" cy="161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10" b="1" i="0">
                <a:solidFill>
                  <a:srgbClr val="2B7B65"/>
                </a:solidFill>
                <a:latin typeface="Arial"/>
                <a:ea typeface="Arial"/>
                <a:cs typeface="Arial"/>
              </a:defRPr>
            </a:pPr>
            <a:r>
              <a:rPr sz="810" b="1" i="0">
                <a:solidFill>
                  <a:srgbClr val="2B7B65"/>
                </a:solidFill>
                <a:latin typeface="Arial"/>
                <a:ea typeface="Arial"/>
                <a:cs typeface="Arial"/>
              </a:rPr>
              <a:t>ТИРАЖ НА ВСЕ ТОРГОВЫЕ КОМПАНИИ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081B4D5-C2BA-4217-9545-5DD0BFE9E647}"/>
              </a:ext>
            </a:extLst>
          </p:cNvPr>
          <p:cNvSpPr>
            <a:spLocks noGrp="1"/>
          </p:cNvSpPr>
          <p:nvPr/>
        </p:nvSpPr>
        <p:spPr>
          <a:xfrm>
            <a:off x="4591050" y="32766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77 млн ₽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BD7A5E1-D226-455F-98C8-91750B5495DA}"/>
              </a:ext>
            </a:extLst>
          </p:cNvPr>
          <p:cNvSpPr>
            <a:spLocks noGrp="1"/>
          </p:cNvSpPr>
          <p:nvPr/>
        </p:nvSpPr>
        <p:spPr>
          <a:xfrm>
            <a:off x="6267450" y="333375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63" b="0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эффект 2027 года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1F76D40-253B-4239-93E1-56C4B5648AEE}"/>
              </a:ext>
            </a:extLst>
          </p:cNvPr>
          <p:cNvSpPr>
            <a:spLocks noGrp="1"/>
          </p:cNvSpPr>
          <p:nvPr/>
        </p:nvSpPr>
        <p:spPr>
          <a:xfrm>
            <a:off x="4457700" y="3790950"/>
            <a:ext cx="37909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3DF"/>
            </a:solidFill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CEDD587-8C9D-4E95-A8EB-78A4D3D9F373}"/>
              </a:ext>
            </a:extLst>
          </p:cNvPr>
          <p:cNvSpPr>
            <a:spLocks noGrp="1"/>
          </p:cNvSpPr>
          <p:nvPr/>
        </p:nvSpPr>
        <p:spPr>
          <a:xfrm>
            <a:off x="4591050" y="3886200"/>
            <a:ext cx="3524250" cy="161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10" b="1" i="0">
                <a:solidFill>
                  <a:srgbClr val="D54A45"/>
                </a:solidFill>
                <a:latin typeface="Arial"/>
                <a:ea typeface="Arial"/>
                <a:cs typeface="Arial"/>
              </a:defRPr>
            </a:pPr>
            <a:r>
              <a:rPr sz="810" b="1" i="0">
                <a:solidFill>
                  <a:srgbClr val="D54A45"/>
                </a:solidFill>
                <a:latin typeface="Arial"/>
                <a:ea typeface="Arial"/>
                <a:cs typeface="Arial"/>
              </a:rPr>
              <a:t>РЕШЕНИЕ ОСТАЁТСЯ ТОЛЬКО В А ГРУПП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A6B1CDE-9EBD-488F-B002-6553435EC13E}"/>
              </a:ext>
            </a:extLst>
          </p:cNvPr>
          <p:cNvSpPr>
            <a:spLocks noGrp="1"/>
          </p:cNvSpPr>
          <p:nvPr/>
        </p:nvSpPr>
        <p:spPr>
          <a:xfrm>
            <a:off x="4591050" y="41148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 i="0">
                <a:solidFill>
                  <a:srgbClr val="203E7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03E70"/>
                </a:solidFill>
                <a:latin typeface="Arial"/>
                <a:ea typeface="Arial"/>
                <a:cs typeface="Arial"/>
              </a:rPr>
              <a:t>38,5 млн ₽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DF3DB47-4E3E-42DF-8A96-7B0BF2A645A4}"/>
              </a:ext>
            </a:extLst>
          </p:cNvPr>
          <p:cNvSpPr>
            <a:spLocks noGrp="1"/>
          </p:cNvSpPr>
          <p:nvPr/>
        </p:nvSpPr>
        <p:spPr>
          <a:xfrm>
            <a:off x="6267450" y="4171950"/>
            <a:ext cx="1847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863" b="0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эффект 2027 года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05D8281-E14C-4358-8E38-5522D26FEBF1}"/>
              </a:ext>
            </a:extLst>
          </p:cNvPr>
          <p:cNvSpPr>
            <a:spLocks noGrp="1"/>
          </p:cNvSpPr>
          <p:nvPr/>
        </p:nvSpPr>
        <p:spPr>
          <a:xfrm>
            <a:off x="4457700" y="4638675"/>
            <a:ext cx="37909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10" b="0" i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10" b="0" i="1">
                <a:solidFill>
                  <a:srgbClr val="66717C"/>
                </a:solidFill>
                <a:latin typeface="Arial"/>
                <a:ea typeface="Arial"/>
                <a:cs typeface="Arial"/>
              </a:rPr>
              <a:t>Сценарии взаимоисключающие. Формулу значений 2027 года необходимо закрепить в согласованной модели эффекта.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EF8F64-CE23-4231-8F81-652DA8561BE9}"/>
              </a:ext>
            </a:extLst>
          </p:cNvPr>
          <p:cNvSpPr>
            <a:spLocks noGrp="1"/>
          </p:cNvSpPr>
          <p:nvPr/>
        </p:nvSpPr>
        <p:spPr>
          <a:xfrm>
            <a:off x="304800" y="5095875"/>
            <a:ext cx="8077200" cy="552450"/>
          </a:xfrm>
          <a:prstGeom prst="roundRect">
            <a:avLst>
              <a:gd name="adj" fmla="val 13793"/>
            </a:avLst>
          </a:prstGeom>
          <a:solidFill>
            <a:srgbClr val="12365F"/>
          </a:solidFill>
          <a:ln w="9525">
            <a:solidFill>
              <a:srgbClr val="12365F"/>
            </a:solidFill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7CAB88-0436-4EF6-9A81-ACD023FCBA35}"/>
              </a:ext>
            </a:extLst>
          </p:cNvPr>
          <p:cNvSpPr>
            <a:spLocks noGrp="1"/>
          </p:cNvSpPr>
          <p:nvPr/>
        </p:nvSpPr>
        <p:spPr>
          <a:xfrm>
            <a:off x="447675" y="5191125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 ЗА 2 ГОДА</a:t>
            </a:r>
          </a:p>
          <a:p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2026–2027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E11A45B-514D-4915-A409-8B52ADF9ACDB}"/>
              </a:ext>
            </a:extLst>
          </p:cNvPr>
          <p:cNvSpPr>
            <a:spLocks noGrp="1"/>
          </p:cNvSpPr>
          <p:nvPr/>
        </p:nvSpPr>
        <p:spPr>
          <a:xfrm>
            <a:off x="2162175" y="5181600"/>
            <a:ext cx="19050" cy="381000"/>
          </a:xfrm>
          <a:prstGeom prst="rect">
            <a:avLst/>
          </a:prstGeom>
          <a:solidFill>
            <a:srgbClr val="6F87A4"/>
          </a:solidFill>
          <a:ln w="9525">
            <a:solidFill>
              <a:srgbClr val="6F87A4"/>
            </a:solidFill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0A39027-03EB-49A4-9C24-19984BBBCA04}"/>
              </a:ext>
            </a:extLst>
          </p:cNvPr>
          <p:cNvSpPr>
            <a:spLocks noGrp="1"/>
          </p:cNvSpPr>
          <p:nvPr/>
        </p:nvSpPr>
        <p:spPr>
          <a:xfrm>
            <a:off x="2343150" y="5162550"/>
            <a:ext cx="2000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78,9 млн ₽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C4E42D2-4E60-4E66-BDFC-E8C583307EBE}"/>
              </a:ext>
            </a:extLst>
          </p:cNvPr>
          <p:cNvSpPr>
            <a:spLocks noGrp="1"/>
          </p:cNvSpPr>
          <p:nvPr/>
        </p:nvSpPr>
        <p:spPr>
          <a:xfrm>
            <a:off x="2343150" y="5429250"/>
            <a:ext cx="2000250" cy="14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788" b="0" i="0">
                <a:solidFill>
                  <a:srgbClr val="DDE7F2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DDE7F2"/>
                </a:solidFill>
                <a:latin typeface="Arial"/>
                <a:ea typeface="Arial"/>
                <a:cs typeface="Arial"/>
              </a:rPr>
              <a:t>при тираже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A0EB5029-DA9B-4CC1-9405-8FBDF743CB91}"/>
              </a:ext>
            </a:extLst>
          </p:cNvPr>
          <p:cNvSpPr>
            <a:spLocks noGrp="1"/>
          </p:cNvSpPr>
          <p:nvPr/>
        </p:nvSpPr>
        <p:spPr>
          <a:xfrm>
            <a:off x="4429125" y="5181600"/>
            <a:ext cx="19050" cy="381000"/>
          </a:xfrm>
          <a:prstGeom prst="rect">
            <a:avLst/>
          </a:prstGeom>
          <a:solidFill>
            <a:srgbClr val="6F87A4"/>
          </a:solidFill>
          <a:ln w="9525">
            <a:solidFill>
              <a:srgbClr val="6F87A4"/>
            </a:solidFill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235E213-3FAF-4CFC-BE77-3ACD30B4AAA7}"/>
              </a:ext>
            </a:extLst>
          </p:cNvPr>
          <p:cNvSpPr>
            <a:spLocks noGrp="1"/>
          </p:cNvSpPr>
          <p:nvPr/>
        </p:nvSpPr>
        <p:spPr>
          <a:xfrm>
            <a:off x="4610100" y="5162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40,4 млн ₽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73DA691-8998-4CBD-B2BB-FDFC69D28315}"/>
              </a:ext>
            </a:extLst>
          </p:cNvPr>
          <p:cNvSpPr>
            <a:spLocks noGrp="1"/>
          </p:cNvSpPr>
          <p:nvPr/>
        </p:nvSpPr>
        <p:spPr>
          <a:xfrm>
            <a:off x="4610100" y="5429250"/>
            <a:ext cx="2095500" cy="142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788" b="0" i="0">
                <a:solidFill>
                  <a:srgbClr val="DDE7F2"/>
                </a:solidFill>
                <a:latin typeface="Arial"/>
                <a:ea typeface="Arial"/>
                <a:cs typeface="Arial"/>
              </a:defRPr>
            </a:pPr>
            <a:r>
              <a:rPr sz="788" b="0" i="0">
                <a:solidFill>
                  <a:srgbClr val="DDE7F2"/>
                </a:solidFill>
                <a:latin typeface="Arial"/>
                <a:ea typeface="Arial"/>
                <a:cs typeface="Arial"/>
              </a:rPr>
              <a:t>только А ГРУПП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62E912D0-0CAB-43A0-84ED-1E03F6102748}"/>
              </a:ext>
            </a:extLst>
          </p:cNvPr>
          <p:cNvSpPr>
            <a:spLocks noGrp="1"/>
          </p:cNvSpPr>
          <p:nvPr/>
        </p:nvSpPr>
        <p:spPr>
          <a:xfrm>
            <a:off x="8515350" y="571500"/>
            <a:ext cx="3371850" cy="228600"/>
          </a:xfrm>
          <a:prstGeom prst="rect">
            <a:avLst/>
          </a:prstGeom>
          <a:solidFill>
            <a:srgbClr val="667286"/>
          </a:solidFill>
          <a:ln w="9525">
            <a:solidFill>
              <a:srgbClr val="667286"/>
            </a:solidFill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1B98EBA6-F079-4A62-A781-98FA2E2512EB}"/>
              </a:ext>
            </a:extLst>
          </p:cNvPr>
          <p:cNvSpPr>
            <a:spLocks noGrp="1"/>
          </p:cNvSpPr>
          <p:nvPr/>
        </p:nvSpPr>
        <p:spPr>
          <a:xfrm>
            <a:off x="8591550" y="600075"/>
            <a:ext cx="3219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Заказчик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AB6A9E89-DAC4-4A54-96EF-77F32E84EBBD}"/>
              </a:ext>
            </a:extLst>
          </p:cNvPr>
          <p:cNvSpPr>
            <a:spLocks noGrp="1"/>
          </p:cNvSpPr>
          <p:nvPr/>
        </p:nvSpPr>
        <p:spPr>
          <a:xfrm>
            <a:off x="8515350" y="800100"/>
            <a:ext cx="3371850" cy="476250"/>
          </a:xfrm>
          <a:prstGeom prst="rect">
            <a:avLst/>
          </a:prstGeom>
          <a:solidFill>
            <a:srgbClr val="F1F4F8"/>
          </a:solidFill>
          <a:ln w="9525">
            <a:solidFill>
              <a:srgbClr val="CBD3DF"/>
            </a:solidFill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6467AC6F-220A-43D6-AC23-CAE941EB083B}"/>
              </a:ext>
            </a:extLst>
          </p:cNvPr>
          <p:cNvSpPr>
            <a:spLocks noGrp="1"/>
          </p:cNvSpPr>
          <p:nvPr/>
        </p:nvSpPr>
        <p:spPr>
          <a:xfrm>
            <a:off x="8620125" y="866775"/>
            <a:ext cx="31623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А ГРУПП</a:t>
            </a: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Функциональное направление: продажи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74038D3-D602-42C3-A8F3-D575442BF5B6}"/>
              </a:ext>
            </a:extLst>
          </p:cNvPr>
          <p:cNvSpPr>
            <a:spLocks noGrp="1"/>
          </p:cNvSpPr>
          <p:nvPr/>
        </p:nvSpPr>
        <p:spPr>
          <a:xfrm>
            <a:off x="8515350" y="1381125"/>
            <a:ext cx="3371850" cy="228600"/>
          </a:xfrm>
          <a:prstGeom prst="rect">
            <a:avLst/>
          </a:prstGeom>
          <a:solidFill>
            <a:srgbClr val="667286"/>
          </a:solidFill>
          <a:ln w="9525">
            <a:solidFill>
              <a:srgbClr val="667286"/>
            </a:solidFill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B31BF007-8DCF-4355-8651-D98051C259BB}"/>
              </a:ext>
            </a:extLst>
          </p:cNvPr>
          <p:cNvSpPr>
            <a:spLocks noGrp="1"/>
          </p:cNvSpPr>
          <p:nvPr/>
        </p:nvSpPr>
        <p:spPr>
          <a:xfrm>
            <a:off x="8591550" y="1409700"/>
            <a:ext cx="3219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Количество пользователей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B0625634-F8A8-49E0-BF86-BCC7A5B7A771}"/>
              </a:ext>
            </a:extLst>
          </p:cNvPr>
          <p:cNvSpPr>
            <a:spLocks noGrp="1"/>
          </p:cNvSpPr>
          <p:nvPr/>
        </p:nvSpPr>
        <p:spPr>
          <a:xfrm>
            <a:off x="8515350" y="1609725"/>
            <a:ext cx="3371850" cy="457200"/>
          </a:xfrm>
          <a:prstGeom prst="rect">
            <a:avLst/>
          </a:prstGeom>
          <a:solidFill>
            <a:srgbClr val="F1F4F8"/>
          </a:solidFill>
          <a:ln w="9525">
            <a:solidFill>
              <a:srgbClr val="CBD3DF"/>
            </a:solidFill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99292DAB-9F99-47C6-8797-6FA9E65BD94F}"/>
              </a:ext>
            </a:extLst>
          </p:cNvPr>
          <p:cNvSpPr>
            <a:spLocks noGrp="1"/>
          </p:cNvSpPr>
          <p:nvPr/>
        </p:nvSpPr>
        <p:spPr>
          <a:xfrm>
            <a:off x="8620125" y="1676400"/>
            <a:ext cx="31623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192 — А ГРУПП</a:t>
            </a: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320 — вместе с Северсталь Дистрибуцией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43ED965E-10C6-4301-89C5-BC9755C34C3C}"/>
              </a:ext>
            </a:extLst>
          </p:cNvPr>
          <p:cNvSpPr>
            <a:spLocks noGrp="1"/>
          </p:cNvSpPr>
          <p:nvPr/>
        </p:nvSpPr>
        <p:spPr>
          <a:xfrm>
            <a:off x="8515350" y="2162175"/>
            <a:ext cx="3371850" cy="228600"/>
          </a:xfrm>
          <a:prstGeom prst="rect">
            <a:avLst/>
          </a:prstGeom>
          <a:solidFill>
            <a:srgbClr val="667286"/>
          </a:solidFill>
          <a:ln w="9525">
            <a:solidFill>
              <a:srgbClr val="667286"/>
            </a:solidFill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6A2825BB-F8F9-4470-B8D7-7E6925E8D3BD}"/>
              </a:ext>
            </a:extLst>
          </p:cNvPr>
          <p:cNvSpPr>
            <a:spLocks noGrp="1"/>
          </p:cNvSpPr>
          <p:nvPr/>
        </p:nvSpPr>
        <p:spPr>
          <a:xfrm>
            <a:off x="8591550" y="2190750"/>
            <a:ext cx="3219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Ключевые метрики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79C80542-A1B6-46A6-B681-9BB0E0CB0B92}"/>
              </a:ext>
            </a:extLst>
          </p:cNvPr>
          <p:cNvSpPr>
            <a:spLocks noGrp="1"/>
          </p:cNvSpPr>
          <p:nvPr/>
        </p:nvSpPr>
        <p:spPr>
          <a:xfrm>
            <a:off x="8515350" y="2390775"/>
            <a:ext cx="3371850" cy="990600"/>
          </a:xfrm>
          <a:prstGeom prst="rect">
            <a:avLst/>
          </a:prstGeom>
          <a:solidFill>
            <a:srgbClr val="F1F4F8"/>
          </a:solidFill>
          <a:ln w="9525">
            <a:solidFill>
              <a:srgbClr val="CBD3DF"/>
            </a:solidFill>
          </a:ln>
        </p:spPr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C1130503-B3E5-4777-897A-B469DCF82901}"/>
              </a:ext>
            </a:extLst>
          </p:cNvPr>
          <p:cNvSpPr>
            <a:spLocks noGrp="1"/>
          </p:cNvSpPr>
          <p:nvPr/>
        </p:nvSpPr>
        <p:spPr>
          <a:xfrm>
            <a:off x="8620125" y="2457450"/>
            <a:ext cx="316230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+5% к тоннажу отгрузки</a:t>
            </a: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100% допустимых заказов получают подсказки</a:t>
            </a: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До 10 рекомендаций: 5 клиент + 5 ниша</a:t>
            </a: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Эффект только после фактической отгрузки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FC919BDA-0FC3-4EAC-AC8C-B2B49B99F4CF}"/>
              </a:ext>
            </a:extLst>
          </p:cNvPr>
          <p:cNvSpPr>
            <a:spLocks noGrp="1"/>
          </p:cNvSpPr>
          <p:nvPr/>
        </p:nvSpPr>
        <p:spPr>
          <a:xfrm>
            <a:off x="8515350" y="3476625"/>
            <a:ext cx="3371850" cy="228600"/>
          </a:xfrm>
          <a:prstGeom prst="rect">
            <a:avLst/>
          </a:prstGeom>
          <a:solidFill>
            <a:srgbClr val="667286"/>
          </a:solidFill>
          <a:ln w="9525">
            <a:solidFill>
              <a:srgbClr val="667286"/>
            </a:solidFill>
          </a:ln>
        </p:spPr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CA5276BB-447F-4705-A948-7982AC7A4F25}"/>
              </a:ext>
            </a:extLst>
          </p:cNvPr>
          <p:cNvSpPr>
            <a:spLocks noGrp="1"/>
          </p:cNvSpPr>
          <p:nvPr/>
        </p:nvSpPr>
        <p:spPr>
          <a:xfrm>
            <a:off x="8591550" y="3505200"/>
            <a:ext cx="32194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Основные сообщения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AB80F1E2-6236-439A-B1B5-DDF6A1C17200}"/>
              </a:ext>
            </a:extLst>
          </p:cNvPr>
          <p:cNvSpPr>
            <a:spLocks noGrp="1"/>
          </p:cNvSpPr>
          <p:nvPr/>
        </p:nvSpPr>
        <p:spPr>
          <a:xfrm>
            <a:off x="8515350" y="3705225"/>
            <a:ext cx="3371850" cy="2381250"/>
          </a:xfrm>
          <a:prstGeom prst="rect">
            <a:avLst/>
          </a:prstGeom>
          <a:solidFill>
            <a:srgbClr val="FFF8E8"/>
          </a:solidFill>
          <a:ln w="9525">
            <a:solidFill>
              <a:srgbClr val="CBD3DF"/>
            </a:solidFill>
          </a:ln>
        </p:spPr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4935FFDE-8F97-4F95-B6C7-578745360F36}"/>
              </a:ext>
            </a:extLst>
          </p:cNvPr>
          <p:cNvSpPr>
            <a:spLocks noGrp="1"/>
          </p:cNvSpPr>
          <p:nvPr/>
        </p:nvSpPr>
        <p:spPr>
          <a:xfrm>
            <a:off x="8620125" y="3771900"/>
            <a:ext cx="3162300" cy="2266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Пилот в А ГРУПП: октябрь 2026 года</a:t>
            </a:r>
          </a:p>
          <a:p>
            <a:endParaRPr sz="848" b="0" i="0">
              <a:solidFill>
                <a:srgbClr val="263747"/>
              </a:solidFill>
              <a:latin typeface="Arial"/>
              <a:ea typeface="Arial"/>
              <a:cs typeface="Arial"/>
            </a:endParaRP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Решение о тираже: I квартал 2027 года</a:t>
            </a:r>
          </a:p>
          <a:p>
            <a:endParaRPr sz="848" b="0" i="0">
              <a:solidFill>
                <a:srgbClr val="263747"/>
              </a:solidFill>
              <a:latin typeface="Arial"/>
              <a:ea typeface="Arial"/>
              <a:cs typeface="Arial"/>
            </a:endParaRP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Прямой эффект: дополнительные тонны в текущем или новом заказе клиента в пределах 2 дней</a:t>
            </a:r>
          </a:p>
          <a:p>
            <a:endParaRPr sz="848" b="0" i="0">
              <a:solidFill>
                <a:srgbClr val="263747"/>
              </a:solidFill>
              <a:latin typeface="Arial"/>
              <a:ea typeface="Arial"/>
              <a:cs typeface="Arial"/>
            </a:endParaRP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Денежный эффект: дополнительные тонны × EBITDA на тонну из 1С</a:t>
            </a:r>
          </a:p>
          <a:p>
            <a:endParaRPr sz="848" b="0" i="0">
              <a:solidFill>
                <a:srgbClr val="263747"/>
              </a:solidFill>
              <a:latin typeface="Arial"/>
              <a:ea typeface="Arial"/>
              <a:cs typeface="Arial"/>
            </a:endParaRPr>
          </a:p>
          <a:p>
            <a:pPr algn="l">
              <a:defRPr sz="848" b="0" i="0">
                <a:solidFill>
                  <a:srgbClr val="263747"/>
                </a:solidFill>
                <a:latin typeface="Arial"/>
                <a:ea typeface="Arial"/>
                <a:cs typeface="Arial"/>
              </a:defRPr>
            </a:pPr>
            <a:r>
              <a:rPr sz="848" b="0" i="0">
                <a:solidFill>
                  <a:srgbClr val="263747"/>
                </a:solidFill>
                <a:latin typeface="Arial"/>
                <a:ea typeface="Arial"/>
                <a:cs typeface="Arial"/>
              </a:rPr>
              <a:t>Контроль: сравнение с исключёнными клиентами</a:t>
            </a:r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D470AF85-0E74-4AAD-AC43-BCA318F865DF}"/>
              </a:ext>
            </a:extLst>
          </p:cNvPr>
          <p:cNvSpPr>
            <a:spLocks noGrp="1"/>
          </p:cNvSpPr>
          <p:nvPr/>
        </p:nvSpPr>
        <p:spPr>
          <a:xfrm>
            <a:off x="304800" y="6496050"/>
            <a:ext cx="11582400" cy="28575"/>
          </a:xfrm>
          <a:prstGeom prst="rect">
            <a:avLst/>
          </a:prstGeom>
          <a:solidFill>
            <a:srgbClr val="203E70"/>
          </a:solidFill>
          <a:ln w="9525">
            <a:solidFill>
              <a:srgbClr val="203E70"/>
            </a:solidFill>
          </a:ln>
        </p:spPr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F6269D36-165A-4375-85D1-EB4D7B528732}"/>
              </a:ext>
            </a:extLst>
          </p:cNvPr>
          <p:cNvSpPr>
            <a:spLocks noGrp="1"/>
          </p:cNvSpPr>
          <p:nvPr/>
        </p:nvSpPr>
        <p:spPr>
          <a:xfrm>
            <a:off x="11601450" y="6219825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750" b="0" i="0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717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22153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DocSecurity>0</DocSecurity>
  <PresentationFormat>Широкоэкранный</PresentationFormat>
  <Paragraphs>56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Roman Fetter</cp:lastModifiedBy>
  <cp:revision>1</cp:revision>
  <dcterms:created xsi:type="dcterms:W3CDTF">2026-09-24T08:39:28Z</dcterms:created>
  <dcterms:modified xsi:type="dcterms:W3CDTF">2026-09-24T08:43:18Z</dcterms:modified>
</cp:coreProperties>
</file>